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6" d="100"/>
          <a:sy n="76" d="100"/>
        </p:scale>
        <p:origin x="2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0EAB512-94B6-42C4-93CE-754982F1D79F}"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2554099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AB512-94B6-42C4-93CE-754982F1D79F}"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3565797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0EAB512-94B6-42C4-93CE-754982F1D79F}"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3739873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0EAB512-94B6-42C4-93CE-754982F1D79F}"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4260896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0EAB512-94B6-42C4-93CE-754982F1D79F}" type="datetimeFigureOut">
              <a:rPr lang="en-US" smtClean="0"/>
              <a:t>12/5/2022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1987846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EAB512-94B6-42C4-93CE-754982F1D79F}" type="datetimeFigureOut">
              <a:rPr lang="en-US" smtClean="0"/>
              <a:t>12/5/2022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3368054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EAB512-94B6-42C4-93CE-754982F1D79F}" type="datetimeFigureOut">
              <a:rPr lang="en-US" smtClean="0"/>
              <a:t>12/5/2022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983923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0EAB512-94B6-42C4-93CE-754982F1D79F}"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3895090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0EAB512-94B6-42C4-93CE-754982F1D79F}"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370049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AB512-94B6-42C4-93CE-754982F1D79F}"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1598555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AB512-94B6-42C4-93CE-754982F1D79F}"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F10D6-A7FA-401E-8F6C-8599299854C9}" type="slidenum">
              <a:rPr lang="en-US" smtClean="0"/>
              <a:t>‹#›</a:t>
            </a:fld>
            <a:endParaRPr lang="en-US"/>
          </a:p>
        </p:txBody>
      </p:sp>
    </p:spTree>
    <p:extLst>
      <p:ext uri="{BB962C8B-B14F-4D97-AF65-F5344CB8AC3E}">
        <p14:creationId xmlns:p14="http://schemas.microsoft.com/office/powerpoint/2010/main" val="2966492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AB512-94B6-42C4-93CE-754982F1D79F}" type="datetimeFigureOut">
              <a:rPr lang="en-US" smtClean="0"/>
              <a:t>12/5/2022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2F10D6-A7FA-401E-8F6C-8599299854C9}" type="slidenum">
              <a:rPr lang="en-US" smtClean="0"/>
              <a:t>‹#›</a:t>
            </a:fld>
            <a:endParaRPr lang="en-US"/>
          </a:p>
        </p:txBody>
      </p:sp>
    </p:spTree>
    <p:extLst>
      <p:ext uri="{BB962C8B-B14F-4D97-AF65-F5344CB8AC3E}">
        <p14:creationId xmlns:p14="http://schemas.microsoft.com/office/powerpoint/2010/main" val="1025042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Scheduling and Resource Management </a:t>
            </a:r>
            <a:endParaRPr lang="en-US" dirty="0"/>
          </a:p>
        </p:txBody>
      </p:sp>
      <p:sp>
        <p:nvSpPr>
          <p:cNvPr id="3" name="Content Placeholder 2"/>
          <p:cNvSpPr>
            <a:spLocks noGrp="1"/>
          </p:cNvSpPr>
          <p:nvPr>
            <p:ph idx="1"/>
          </p:nvPr>
        </p:nvSpPr>
        <p:spPr/>
        <p:txBody>
          <a:bodyPr>
            <a:normAutofit/>
          </a:bodyPr>
          <a:lstStyle/>
          <a:p>
            <a:pPr marL="0" indent="0" algn="ctr">
              <a:buNone/>
            </a:pPr>
            <a:r>
              <a:rPr lang="en-US" sz="3600" dirty="0" smtClean="0"/>
              <a:t>key responsibility of the OS</a:t>
            </a:r>
          </a:p>
          <a:p>
            <a:pPr marL="0" indent="0" algn="ctr">
              <a:buNone/>
            </a:pPr>
            <a:endParaRPr lang="en-US" sz="3600" i="1" dirty="0" smtClean="0"/>
          </a:p>
          <a:p>
            <a:pPr marL="0" indent="0">
              <a:buNone/>
            </a:pPr>
            <a:r>
              <a:rPr lang="en-US" sz="3200" dirty="0" smtClean="0"/>
              <a:t>to manage the various resources available to it (main memory space, I/O devices, processors)</a:t>
            </a:r>
          </a:p>
          <a:p>
            <a:pPr marL="0" indent="0">
              <a:buNone/>
            </a:pPr>
            <a:endParaRPr lang="en-US" sz="3200" dirty="0"/>
          </a:p>
          <a:p>
            <a:pPr marL="0" indent="0">
              <a:buNone/>
            </a:pPr>
            <a:r>
              <a:rPr lang="en-US" sz="3200" dirty="0" smtClean="0"/>
              <a:t>to schedule their use by the various active processes</a:t>
            </a:r>
            <a:endParaRPr lang="en-US" sz="3200" dirty="0"/>
          </a:p>
        </p:txBody>
      </p:sp>
    </p:spTree>
    <p:extLst>
      <p:ext uri="{BB962C8B-B14F-4D97-AF65-F5344CB8AC3E}">
        <p14:creationId xmlns:p14="http://schemas.microsoft.com/office/powerpoint/2010/main" val="32517161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Any resource allocation and scheduling policy must consider three factors</a:t>
            </a:r>
            <a:endParaRPr lang="en-US" sz="3200" dirty="0"/>
          </a:p>
        </p:txBody>
      </p:sp>
      <p:sp>
        <p:nvSpPr>
          <p:cNvPr id="3" name="Content Placeholder 2"/>
          <p:cNvSpPr>
            <a:spLocks noGrp="1"/>
          </p:cNvSpPr>
          <p:nvPr>
            <p:ph idx="1"/>
          </p:nvPr>
        </p:nvSpPr>
        <p:spPr/>
        <p:txBody>
          <a:bodyPr/>
          <a:lstStyle/>
          <a:p>
            <a:pPr marL="0" indent="0">
              <a:buNone/>
            </a:pPr>
            <a:r>
              <a:rPr lang="en-US" dirty="0" smtClean="0"/>
              <a:t>Fairness</a:t>
            </a:r>
          </a:p>
          <a:p>
            <a:pPr marL="0" indent="0">
              <a:buNone/>
            </a:pPr>
            <a:r>
              <a:rPr lang="en-US" sz="2400" dirty="0" smtClean="0"/>
              <a:t>all processes that are competing for the use of a particular resource to be given approximately equal and fair access to that resource.</a:t>
            </a:r>
          </a:p>
          <a:p>
            <a:pPr marL="0" indent="0">
              <a:buNone/>
            </a:pPr>
            <a:endParaRPr lang="en-US" sz="2400" dirty="0"/>
          </a:p>
          <a:p>
            <a:pPr marL="0" indent="0">
              <a:buNone/>
            </a:pPr>
            <a:r>
              <a:rPr lang="en-US" dirty="0" smtClean="0"/>
              <a:t>Differential responsiveness</a:t>
            </a:r>
          </a:p>
          <a:p>
            <a:pPr marL="0" indent="0">
              <a:buNone/>
            </a:pPr>
            <a:r>
              <a:rPr lang="en-US" sz="2400" dirty="0" smtClean="0"/>
              <a:t>To discriminate among different classes of jobs with different service requirements.</a:t>
            </a:r>
            <a:endParaRPr lang="en-US" sz="2400" dirty="0"/>
          </a:p>
          <a:p>
            <a:pPr marL="0" indent="0">
              <a:buNone/>
            </a:pPr>
            <a:r>
              <a:rPr lang="en-US" sz="2400" dirty="0" smtClean="0"/>
              <a:t>to make allocation and scheduling decisions to meet the total set of requirements.</a:t>
            </a:r>
          </a:p>
          <a:p>
            <a:pPr marL="0" indent="0">
              <a:buNone/>
            </a:pPr>
            <a:r>
              <a:rPr lang="en-US" sz="2400" dirty="0" smtClean="0"/>
              <a:t>make these decisions dynamically.</a:t>
            </a:r>
            <a:endParaRPr lang="en-US" sz="2400" dirty="0"/>
          </a:p>
        </p:txBody>
      </p:sp>
    </p:spTree>
    <p:extLst>
      <p:ext uri="{BB962C8B-B14F-4D97-AF65-F5344CB8AC3E}">
        <p14:creationId xmlns:p14="http://schemas.microsoft.com/office/powerpoint/2010/main" val="5681899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smtClean="0"/>
              <a:t>Third factor</a:t>
            </a:r>
            <a:endParaRPr lang="en-US" dirty="0"/>
          </a:p>
        </p:txBody>
      </p:sp>
      <p:sp>
        <p:nvSpPr>
          <p:cNvPr id="3" name="Content Placeholder 2"/>
          <p:cNvSpPr>
            <a:spLocks noGrp="1"/>
          </p:cNvSpPr>
          <p:nvPr>
            <p:ph idx="1"/>
          </p:nvPr>
        </p:nvSpPr>
        <p:spPr>
          <a:xfrm>
            <a:off x="838200" y="1978025"/>
            <a:ext cx="10515600" cy="4351338"/>
          </a:xfrm>
        </p:spPr>
        <p:txBody>
          <a:bodyPr/>
          <a:lstStyle/>
          <a:p>
            <a:pPr marL="0" indent="0">
              <a:buNone/>
            </a:pPr>
            <a:r>
              <a:rPr lang="en-US" dirty="0" smtClean="0"/>
              <a:t>Efficiency</a:t>
            </a:r>
          </a:p>
          <a:p>
            <a:pPr marL="0" indent="0">
              <a:buNone/>
            </a:pPr>
            <a:r>
              <a:rPr lang="en-US" sz="2400" dirty="0" smtClean="0"/>
              <a:t>to maximize throughput</a:t>
            </a:r>
            <a:endParaRPr lang="en-US" sz="2400" dirty="0"/>
          </a:p>
          <a:p>
            <a:pPr marL="0" indent="0">
              <a:buNone/>
            </a:pPr>
            <a:r>
              <a:rPr lang="en-US" sz="2400" dirty="0" smtClean="0"/>
              <a:t>minimize response time</a:t>
            </a:r>
          </a:p>
          <a:p>
            <a:pPr marL="0" indent="0">
              <a:buNone/>
            </a:pPr>
            <a:r>
              <a:rPr lang="en-US" sz="2400" dirty="0" smtClean="0"/>
              <a:t>in the case of time sharing, accommodate as many users as possible</a:t>
            </a:r>
          </a:p>
          <a:p>
            <a:pPr marL="0" indent="0">
              <a:buNone/>
            </a:pPr>
            <a:endParaRPr lang="en-US" sz="2400" dirty="0"/>
          </a:p>
          <a:p>
            <a:pPr marL="0" indent="0">
              <a:buNone/>
            </a:pPr>
            <a:r>
              <a:rPr lang="en-US" sz="2000" dirty="0" smtClean="0"/>
              <a:t>Throughput = the number of processes completed per unit time</a:t>
            </a:r>
          </a:p>
          <a:p>
            <a:pPr marL="0" indent="0">
              <a:buNone/>
            </a:pPr>
            <a:endParaRPr lang="en-US" sz="2000" dirty="0"/>
          </a:p>
        </p:txBody>
      </p:sp>
    </p:spTree>
    <p:extLst>
      <p:ext uri="{BB962C8B-B14F-4D97-AF65-F5344CB8AC3E}">
        <p14:creationId xmlns:p14="http://schemas.microsoft.com/office/powerpoint/2010/main" val="41012387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queue</a:t>
            </a:r>
          </a:p>
        </p:txBody>
      </p:sp>
      <p:sp>
        <p:nvSpPr>
          <p:cNvPr id="3" name="Content Placeholder 2"/>
          <p:cNvSpPr>
            <a:spLocks noGrp="1"/>
          </p:cNvSpPr>
          <p:nvPr>
            <p:ph idx="1"/>
          </p:nvPr>
        </p:nvSpPr>
        <p:spPr/>
        <p:txBody>
          <a:bodyPr/>
          <a:lstStyle/>
          <a:p>
            <a:r>
              <a:rPr lang="en-US" dirty="0" smtClean="0"/>
              <a:t>The OS maintains a number of queues, each of which is simply a list of processes waiting for some resource.</a:t>
            </a:r>
          </a:p>
          <a:p>
            <a:r>
              <a:rPr lang="en-US" dirty="0" smtClean="0"/>
              <a:t>The short-term queue consists of processes that are in main memory (or at least an essential minimum portion of each is in main memory) and are ready to run as soon as the processor is made available.</a:t>
            </a:r>
          </a:p>
          <a:p>
            <a:r>
              <a:rPr lang="en-US" dirty="0"/>
              <a:t>It is up to the short-term scheduler, </a:t>
            </a:r>
            <a:r>
              <a:rPr lang="en-US" dirty="0" smtClean="0"/>
              <a:t>or dispatcher</a:t>
            </a:r>
            <a:r>
              <a:rPr lang="en-US" dirty="0"/>
              <a:t>, to pick one</a:t>
            </a:r>
            <a:r>
              <a:rPr lang="en-US" dirty="0" smtClean="0"/>
              <a:t>.</a:t>
            </a:r>
          </a:p>
          <a:p>
            <a:endParaRPr lang="en-US" dirty="0"/>
          </a:p>
        </p:txBody>
      </p:sp>
    </p:spTree>
    <p:extLst>
      <p:ext uri="{BB962C8B-B14F-4D97-AF65-F5344CB8AC3E}">
        <p14:creationId xmlns:p14="http://schemas.microsoft.com/office/powerpoint/2010/main" val="36621570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round-robin technique</a:t>
            </a:r>
          </a:p>
        </p:txBody>
      </p:sp>
      <p:sp>
        <p:nvSpPr>
          <p:cNvPr id="3" name="Content Placeholder 2"/>
          <p:cNvSpPr>
            <a:spLocks noGrp="1"/>
          </p:cNvSpPr>
          <p:nvPr>
            <p:ph idx="1"/>
          </p:nvPr>
        </p:nvSpPr>
        <p:spPr/>
        <p:txBody>
          <a:bodyPr/>
          <a:lstStyle/>
          <a:p>
            <a:r>
              <a:rPr lang="en-US" dirty="0"/>
              <a:t>A common strategy is to give each process in the queue some time in turn; this is referred to as a round-robin technique. In effect, the round-robin technique employs a circular queue</a:t>
            </a:r>
            <a:r>
              <a:rPr lang="en-US" dirty="0" smtClean="0"/>
              <a:t>.</a:t>
            </a:r>
          </a:p>
          <a:p>
            <a:r>
              <a:rPr lang="en-US" dirty="0"/>
              <a:t>. Another strategy is to assign priority levels to the various processes, with the scheduler selecting processes in priority order. </a:t>
            </a:r>
            <a:endParaRPr lang="en-US" dirty="0" smtClean="0"/>
          </a:p>
          <a:p>
            <a:endParaRPr lang="en-US" dirty="0"/>
          </a:p>
        </p:txBody>
      </p:sp>
    </p:spTree>
    <p:extLst>
      <p:ext uri="{BB962C8B-B14F-4D97-AF65-F5344CB8AC3E}">
        <p14:creationId xmlns:p14="http://schemas.microsoft.com/office/powerpoint/2010/main" val="146883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long-term queue </a:t>
            </a:r>
          </a:p>
        </p:txBody>
      </p:sp>
      <p:sp>
        <p:nvSpPr>
          <p:cNvPr id="3" name="Content Placeholder 2"/>
          <p:cNvSpPr>
            <a:spLocks noGrp="1"/>
          </p:cNvSpPr>
          <p:nvPr>
            <p:ph idx="1"/>
          </p:nvPr>
        </p:nvSpPr>
        <p:spPr/>
        <p:txBody>
          <a:bodyPr/>
          <a:lstStyle/>
          <a:p>
            <a:r>
              <a:rPr lang="en-US" dirty="0"/>
              <a:t>The long-term queue is a list of new jobs waiting to use the processor. </a:t>
            </a:r>
            <a:endParaRPr lang="en-US" dirty="0" smtClean="0"/>
          </a:p>
          <a:p>
            <a:r>
              <a:rPr lang="en-US" dirty="0"/>
              <a:t>The OS adds jobs to the system by transferring a process from the long-term queue to the short-term queue. </a:t>
            </a:r>
            <a:endParaRPr lang="en-US" dirty="0" smtClean="0"/>
          </a:p>
          <a:p>
            <a:r>
              <a:rPr lang="en-US" dirty="0"/>
              <a:t>. At that time, a portion of main memory must be allocated to the incoming process. </a:t>
            </a:r>
            <a:endParaRPr lang="en-US" dirty="0" smtClean="0"/>
          </a:p>
          <a:p>
            <a:r>
              <a:rPr lang="en-US" dirty="0" smtClean="0"/>
              <a:t>Thus</a:t>
            </a:r>
            <a:r>
              <a:rPr lang="en-US" dirty="0"/>
              <a:t>, the OS must be sure that it does not overcommit memory or processing time by admitting too many processes to the system</a:t>
            </a:r>
          </a:p>
        </p:txBody>
      </p:sp>
    </p:spTree>
    <p:extLst>
      <p:ext uri="{BB962C8B-B14F-4D97-AF65-F5344CB8AC3E}">
        <p14:creationId xmlns:p14="http://schemas.microsoft.com/office/powerpoint/2010/main" val="97008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queue</a:t>
            </a:r>
          </a:p>
        </p:txBody>
      </p:sp>
      <p:sp>
        <p:nvSpPr>
          <p:cNvPr id="3" name="Content Placeholder 2"/>
          <p:cNvSpPr>
            <a:spLocks noGrp="1"/>
          </p:cNvSpPr>
          <p:nvPr>
            <p:ph idx="1"/>
          </p:nvPr>
        </p:nvSpPr>
        <p:spPr/>
        <p:txBody>
          <a:bodyPr/>
          <a:lstStyle/>
          <a:p>
            <a:r>
              <a:rPr lang="en-US" dirty="0" smtClean="0"/>
              <a:t>More </a:t>
            </a:r>
            <a:r>
              <a:rPr lang="en-US" dirty="0"/>
              <a:t>than one process may request the use of the same I/O device. </a:t>
            </a:r>
            <a:endParaRPr lang="en-US" dirty="0" smtClean="0"/>
          </a:p>
          <a:p>
            <a:r>
              <a:rPr lang="en-US" dirty="0" smtClean="0"/>
              <a:t>All </a:t>
            </a:r>
            <a:r>
              <a:rPr lang="en-US" dirty="0"/>
              <a:t>processes waiting to use each device are lined up in that device’s queue.</a:t>
            </a:r>
          </a:p>
        </p:txBody>
      </p:sp>
    </p:spTree>
    <p:extLst>
      <p:ext uri="{BB962C8B-B14F-4D97-AF65-F5344CB8AC3E}">
        <p14:creationId xmlns:p14="http://schemas.microsoft.com/office/powerpoint/2010/main" val="4209839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interrupt occurs</a:t>
            </a:r>
            <a:endParaRPr lang="en-US" dirty="0"/>
          </a:p>
        </p:txBody>
      </p:sp>
      <p:sp>
        <p:nvSpPr>
          <p:cNvPr id="3" name="Content Placeholder 2"/>
          <p:cNvSpPr>
            <a:spLocks noGrp="1"/>
          </p:cNvSpPr>
          <p:nvPr>
            <p:ph idx="1"/>
          </p:nvPr>
        </p:nvSpPr>
        <p:spPr/>
        <p:txBody>
          <a:bodyPr/>
          <a:lstStyle/>
          <a:p>
            <a:r>
              <a:rPr lang="en-US" dirty="0"/>
              <a:t>The OS receives control of the processor at the interrupt handler if an </a:t>
            </a:r>
            <a:r>
              <a:rPr lang="en-US" dirty="0" smtClean="0"/>
              <a:t>interrupt </a:t>
            </a:r>
            <a:r>
              <a:rPr lang="en-US" dirty="0"/>
              <a:t>occurs</a:t>
            </a:r>
            <a:r>
              <a:rPr lang="en-US" dirty="0" smtClean="0"/>
              <a:t>.</a:t>
            </a:r>
          </a:p>
          <a:p>
            <a:r>
              <a:rPr lang="en-US" dirty="0" smtClean="0"/>
              <a:t> </a:t>
            </a:r>
            <a:r>
              <a:rPr lang="en-US" dirty="0"/>
              <a:t>A process may specifically invoke some OS service, such as an I/O device handler by means of a service call</a:t>
            </a:r>
            <a:r>
              <a:rPr lang="en-US" dirty="0" smtClean="0"/>
              <a:t>.</a:t>
            </a:r>
            <a:endParaRPr lang="en-US" dirty="0"/>
          </a:p>
          <a:p>
            <a:r>
              <a:rPr lang="en-US" dirty="0" smtClean="0"/>
              <a:t>In </a:t>
            </a:r>
            <a:r>
              <a:rPr lang="en-US" dirty="0"/>
              <a:t>this case, a service call handler is the entry point into the OS</a:t>
            </a:r>
            <a:r>
              <a:rPr lang="en-US" dirty="0" smtClean="0"/>
              <a:t>.</a:t>
            </a:r>
          </a:p>
          <a:p>
            <a:r>
              <a:rPr lang="en-US" dirty="0" smtClean="0"/>
              <a:t>In </a:t>
            </a:r>
            <a:r>
              <a:rPr lang="en-US" dirty="0"/>
              <a:t>any case, once the interrupt or service call is handled, the short-term scheduler is invoked to pick a process for execution</a:t>
            </a:r>
            <a:r>
              <a:rPr lang="en-US" dirty="0" smtClean="0"/>
              <a:t>.</a:t>
            </a:r>
          </a:p>
          <a:p>
            <a:endParaRPr lang="en-US" dirty="0"/>
          </a:p>
        </p:txBody>
      </p:sp>
    </p:spTree>
    <p:extLst>
      <p:ext uri="{BB962C8B-B14F-4D97-AF65-F5344CB8AC3E}">
        <p14:creationId xmlns:p14="http://schemas.microsoft.com/office/powerpoint/2010/main" val="3326841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468</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Scheduling and Resource Management </vt:lpstr>
      <vt:lpstr>Any resource allocation and scheduling policy must consider three factors</vt:lpstr>
      <vt:lpstr>Third factor</vt:lpstr>
      <vt:lpstr>short-term queue</vt:lpstr>
      <vt:lpstr>round-robin technique</vt:lpstr>
      <vt:lpstr>long-term queue </vt:lpstr>
      <vt:lpstr>I/O queue</vt:lpstr>
      <vt:lpstr>When interrupt occurs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 Let Shwe Ye Khin</dc:creator>
  <cp:lastModifiedBy>Lin Let Shwe Ye Khin</cp:lastModifiedBy>
  <cp:revision>5</cp:revision>
  <dcterms:created xsi:type="dcterms:W3CDTF">2022-12-05T03:44:15Z</dcterms:created>
  <dcterms:modified xsi:type="dcterms:W3CDTF">2022-12-05T09:42:34Z</dcterms:modified>
</cp:coreProperties>
</file>